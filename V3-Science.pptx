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The Trivedi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Peer-Reviewed Scientific Evidence for Biofield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The Scientific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Can human intention/biofield energy measurably affect physical and biological systems?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657 peer-reviewed publications</a:t>
            </a:r>
          </a:p>
          <a:p>
            <a:pPr>
              <a:spcAft>
                <a:spcPts val="1200"/>
              </a:spcAft>
              <a:defRPr sz="2400"/>
            </a:pPr>
            <a:r>
              <a:t>• 4,000+ controlled experiments</a:t>
            </a:r>
          </a:p>
          <a:p>
            <a:pPr>
              <a:spcAft>
                <a:spcPts val="1200"/>
              </a:spcAft>
              <a:defRPr sz="2400"/>
            </a:pPr>
            <a:r>
              <a:t>• Multiple independent laboratories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Research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Publications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Materials 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371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Health &amp; Well-being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225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Life Sciences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58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657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Dr. Rustum Roy (1924-2010)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Principal Investigator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Professor Emeritus, Materials Science, Penn State</a:t>
            </a:r>
          </a:p>
          <a:p>
            <a:pPr>
              <a:spcAft>
                <a:spcPts val="1200"/>
              </a:spcAft>
              <a:defRPr sz="2400"/>
            </a:pPr>
            <a:r>
              <a:t>• Member, National Academy of Engineering</a:t>
            </a:r>
          </a:p>
          <a:p>
            <a:pPr>
              <a:spcAft>
                <a:spcPts val="1200"/>
              </a:spcAft>
              <a:defRPr sz="2400"/>
            </a:pPr>
            <a:r>
              <a:t>• 1,000+ peer-reviewed publications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Experimental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Control and treated samples from same batch</a:t>
            </a:r>
          </a:p>
          <a:p>
            <a:pPr>
              <a:spcAft>
                <a:spcPts val="1200"/>
              </a:spcAft>
              <a:defRPr sz="2400"/>
            </a:pPr>
            <a:r>
              <a:t>• Treated samples exposed to biofield energy remotely</a:t>
            </a:r>
          </a:p>
          <a:p>
            <a:pPr>
              <a:spcAft>
                <a:spcPts val="1200"/>
              </a:spcAft>
              <a:defRPr sz="2400"/>
            </a:pPr>
            <a:r>
              <a:t>• Both groups analyzed using identical procedures</a:t>
            </a:r>
          </a:p>
          <a:p>
            <a:pPr>
              <a:spcAft>
                <a:spcPts val="1200"/>
              </a:spcAft>
              <a:defRPr sz="2400"/>
            </a:pPr>
            <a:r>
              <a:t>• Results compared statistically</a:t>
            </a:r>
          </a:p>
          <a:p>
            <a:pPr>
              <a:spcAft>
                <a:spcPts val="1200"/>
              </a:spcAft>
              <a:defRPr sz="2400"/>
            </a:pPr>
            <a:r>
              <a:t>• Multiple trials for reproducibility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MATERIALS SCIENCE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371 peer-reviewed publications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Analytical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X-Ray Diffraction (XRD)</a:t>
            </a:r>
          </a:p>
          <a:p>
            <a:pPr>
              <a:spcAft>
                <a:spcPts val="1200"/>
              </a:spcAft>
              <a:defRPr sz="2400"/>
            </a:pPr>
            <a:r>
              <a:t>• Particle Size Analysis</a:t>
            </a:r>
          </a:p>
          <a:p>
            <a:pPr>
              <a:spcAft>
                <a:spcPts val="1200"/>
              </a:spcAft>
              <a:defRPr sz="2400"/>
            </a:pPr>
            <a:r>
              <a:t>• BET Surface Area</a:t>
            </a:r>
          </a:p>
          <a:p>
            <a:pPr>
              <a:spcAft>
                <a:spcPts val="1200"/>
              </a:spcAft>
              <a:defRPr sz="2400"/>
            </a:pPr>
            <a:r>
              <a:t>• Thermal Analysis (TGA/DTA/DSC)</a:t>
            </a:r>
          </a:p>
          <a:p>
            <a:pPr>
              <a:spcAft>
                <a:spcPts val="1200"/>
              </a:spcAft>
              <a:defRPr sz="2400"/>
            </a:pPr>
            <a:r>
              <a:t>• Scanning Electron Microscopy (SEM)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Summary of Physical Changes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Range of Change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Lattice 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-0.56% to +3.35%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Crystallite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-76.59% to +835%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Surface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up to +374%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Melting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-21.9% to +29.59%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Isotopic Abundance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2021 series, multiple compounds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Biofield energy altered isotopic ratios</a:t>
            </a:r>
          </a:p>
          <a:p>
            <a:pPr>
              <a:spcAft>
                <a:spcPts val="1200"/>
              </a:spcAft>
              <a:defRPr sz="2400"/>
            </a:pPr>
            <a:r>
              <a:t>• Carbon (¹³C/¹²C)</a:t>
            </a:r>
          </a:p>
          <a:p>
            <a:pPr>
              <a:spcAft>
                <a:spcPts val="1200"/>
              </a:spcAft>
              <a:defRPr sz="2400"/>
            </a:pPr>
            <a:r>
              <a:t>• Nitrogen (¹⁵N/¹⁴N)</a:t>
            </a:r>
          </a:p>
          <a:p>
            <a:pPr>
              <a:spcAft>
                <a:spcPts val="1200"/>
              </a:spcAft>
              <a:defRPr sz="2400"/>
            </a:pPr>
            <a:r>
              <a:t>• This should be impossible under conventional physics.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LIFE SCIENCES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Agricultural studies with significant yield improvements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Cashew Study (2002-2006)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Result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+334%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Chlorophyll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+93%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Immunity (GSH)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+639%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Seed Studies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Crop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Yield Increase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Chickpea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+365%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Mustard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+500%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Horse 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+105%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DNA Polymorphism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38 Crop Species Analyzed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Average DNA polymorphism: 6-69%</a:t>
            </a:r>
          </a:p>
          <a:p>
            <a:pPr>
              <a:spcAft>
                <a:spcPts val="1200"/>
              </a:spcAft>
              <a:defRPr sz="2400"/>
            </a:pPr>
            <a:r>
              <a:t>• Genetic alteration without chemical mutagens</a:t>
            </a:r>
          </a:p>
          <a:p>
            <a:pPr>
              <a:spcAft>
                <a:spcPts val="1200"/>
              </a:spcAft>
              <a:defRPr sz="2400"/>
            </a:pPr>
            <a:r>
              <a:t>• Published in agricultural genetics journals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HUMAN CLINICAL TRIALS 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Clinical Trial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77 participants (39M, 38F)</a:t>
            </a:r>
          </a:p>
          <a:p>
            <a:pPr>
              <a:spcAft>
                <a:spcPts val="1200"/>
              </a:spcAft>
              <a:defRPr sz="2400"/>
            </a:pPr>
            <a:r>
              <a:t>• Age range: 20-50 years</a:t>
            </a:r>
          </a:p>
          <a:p>
            <a:pPr>
              <a:spcAft>
                <a:spcPts val="1200"/>
              </a:spcAft>
              <a:defRPr sz="2400"/>
            </a:pPr>
            <a:r>
              <a:t>• Duration: 6 months</a:t>
            </a:r>
          </a:p>
          <a:p>
            <a:pPr>
              <a:spcAft>
                <a:spcPts val="1200"/>
              </a:spcAft>
              <a:defRPr sz="2400"/>
            </a:pPr>
            <a:r>
              <a:t>• Multiple biomarker categories measured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Inflammatory Markers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Change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TNF-α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Pro-inflammatory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-95%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IL-1β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Inflammatory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-94%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IL-8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Chemokine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-72%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Anti-Aging Markers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48639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Change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Klotho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Longevity protein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+685%</a:t>
                      </a:r>
                    </a:p>
                  </a:txBody>
                  <a:tcPr/>
                </a:tc>
              </a:tr>
              <a:tr h="548641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Vitamin 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Active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+66%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Immune Function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Change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CD25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+71%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VDR (Breast)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+2,300%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VDR (Bone)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+800%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CANCER RESEARCH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In-Vitro Studies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Brain Cancer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California Pacific Medical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"Such selective efficacy against cancer cells is the sought-after Holy Grail."</a:t>
            </a:r>
          </a:p>
          <a:p>
            <a:pPr>
              <a:spcAft>
                <a:spcPts val="1200"/>
              </a:spcAft>
              <a:defRPr sz="2400"/>
            </a:pPr>
            <a:r>
              <a:t>• — Dr. Garrett L. Yount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Virology Studies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0" y="2286000"/>
          <a:ext cx="73152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48639"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Virus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/>
                      </a:pPr>
                      <a:r>
                        <a:t>Reduction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HIV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65%</a:t>
                      </a:r>
                    </a:p>
                  </a:txBody>
                  <a:tcPr/>
                </a:tc>
              </a:tr>
              <a:tr h="548641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Hepatitis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Multiple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Significant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THEORETICAL FRAMEWORK 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The Biofield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Proposed Mechanism: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Consciousness generates a measurable energy field</a:t>
            </a:r>
          </a:p>
          <a:p>
            <a:pPr>
              <a:spcAft>
                <a:spcPts val="1200"/>
              </a:spcAft>
              <a:defRPr sz="2400"/>
            </a:pPr>
            <a:r>
              <a:t>• Interacts with matter at the quantum level</a:t>
            </a:r>
          </a:p>
          <a:p>
            <a:pPr>
              <a:spcAft>
                <a:spcPts val="1200"/>
              </a:spcAft>
              <a:defRPr sz="2400"/>
            </a:pPr>
            <a:r>
              <a:t>• Affects electron spin states, atomic vibration</a:t>
            </a:r>
          </a:p>
          <a:p>
            <a:pPr>
              <a:spcAft>
                <a:spcPts val="1200"/>
              </a:spcAft>
              <a:defRPr sz="2400"/>
            </a:pPr>
            <a:r>
              <a:t>• Influences biological information processing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Distance Independence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Effects occur regardless of physical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Non-local quantum correlations?</a:t>
            </a:r>
          </a:p>
          <a:p>
            <a:pPr>
              <a:spcAft>
                <a:spcPts val="1200"/>
              </a:spcAft>
              <a:defRPr sz="2400"/>
            </a:pPr>
            <a:r>
              <a:t>• Biofield extends beyond physical body?</a:t>
            </a:r>
          </a:p>
          <a:p>
            <a:pPr>
              <a:spcAft>
                <a:spcPts val="1200"/>
              </a:spcAft>
              <a:defRPr sz="2400"/>
            </a:pPr>
            <a:r>
              <a:t>• Information rather than energy transfer?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Strengths of the Research: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4,000+ experiments</a:t>
            </a:r>
          </a:p>
          <a:p>
            <a:pPr>
              <a:spcAft>
                <a:spcPts val="1200"/>
              </a:spcAft>
              <a:defRPr sz="2400"/>
            </a:pPr>
            <a:r>
              <a:t>• Multiple independent laboratories</a:t>
            </a:r>
          </a:p>
          <a:p>
            <a:pPr>
              <a:spcAft>
                <a:spcPts val="1200"/>
              </a:spcAft>
              <a:defRPr sz="2400"/>
            </a:pPr>
            <a:r>
              <a:t>• Diverse material systems</a:t>
            </a:r>
          </a:p>
          <a:p>
            <a:pPr>
              <a:spcAft>
                <a:spcPts val="1200"/>
              </a:spcAft>
              <a:defRPr sz="2400"/>
            </a:pPr>
            <a:r>
              <a:t>• Consistent effect directions</a:t>
            </a:r>
          </a:p>
          <a:p>
            <a:pPr>
              <a:spcAft>
                <a:spcPts val="1200"/>
              </a:spcAft>
              <a:defRPr sz="2400"/>
            </a:pPr>
            <a:r>
              <a:t>• Peer review process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— IMPLICATIONS 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Scientific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If these findings are valid: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Consciousness is a physical force</a:t>
            </a:r>
          </a:p>
          <a:p>
            <a:pPr>
              <a:spcAft>
                <a:spcPts val="1200"/>
              </a:spcAft>
              <a:defRPr sz="2400"/>
            </a:pPr>
            <a:r>
              <a:t>• Non-local interactions exist</a:t>
            </a:r>
          </a:p>
          <a:p>
            <a:pPr>
              <a:spcAft>
                <a:spcPts val="1200"/>
              </a:spcAft>
              <a:defRPr sz="2400"/>
            </a:pPr>
            <a:r>
              <a:t>• Mind-matter interaction is measurable</a:t>
            </a:r>
          </a:p>
          <a:p>
            <a:pPr>
              <a:spcAft>
                <a:spcPts val="1200"/>
              </a:spcAft>
              <a:defRPr sz="2400"/>
            </a:pPr>
            <a:r>
              <a:t>• Current physics is incomplete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Invitation to Investigate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Full publication database available</a:t>
            </a:r>
          </a:p>
          <a:p>
            <a:pPr>
              <a:spcAft>
                <a:spcPts val="1200"/>
              </a:spcAft>
              <a:defRPr sz="2400"/>
            </a:pPr>
            <a:r>
              <a:t>• Raw data available for qualified researchers</a:t>
            </a:r>
          </a:p>
          <a:p>
            <a:pPr>
              <a:spcAft>
                <a:spcPts val="1200"/>
              </a:spcAft>
              <a:defRPr sz="2400"/>
            </a:pPr>
            <a:r>
              <a:t>• Collaboration opportunities</a:t>
            </a:r>
          </a:p>
          <a:p>
            <a:pPr>
              <a:spcAft>
                <a:spcPts val="1200"/>
              </a:spcAft>
              <a:defRPr sz="2400"/>
            </a:pPr>
            <a:r>
              <a:t>• Replication studies welcome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TrivediScience.com — Full publication database</a:t>
            </a:r>
          </a:p>
          <a:p>
            <a:pPr>
              <a:spcAft>
                <a:spcPts val="1200"/>
              </a:spcAft>
              <a:defRPr sz="2400"/>
            </a:pPr>
            <a:r>
              <a:t>• DivineConnection.org — Overview and programs</a:t>
            </a:r>
          </a:p>
          <a:p>
            <a:pPr>
              <a:spcAft>
                <a:spcPts val="1200"/>
              </a:spcAft>
              <a:defRPr sz="2400"/>
            </a:pPr>
            <a:r>
              <a:t>• ResearchGate profiles for researchers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The Evidence Speaks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371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657 publications.</a:t>
            </a:r>
            <a:br/>
            <a:r>
              <a:t>4,000+ experiments.</a:t>
            </a:r>
            <a:br/>
            <a:r>
              <a:t>Measurable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