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Trivedi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A Scalable Platform for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A scientifically validated method for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657 peer-reviewed publications</a:t>
            </a:r>
          </a:p>
          <a:p>
            <a:pPr>
              <a:spcAft>
                <a:spcPts val="1200"/>
              </a:spcAft>
              <a:defRPr sz="2400"/>
            </a:pPr>
            <a:r>
              <a:t>• 4,000+ controlled experiments</a:t>
            </a:r>
          </a:p>
          <a:p>
            <a:pPr>
              <a:spcAft>
                <a:spcPts val="1200"/>
              </a:spcAft>
              <a:defRPr sz="2400"/>
            </a:pPr>
            <a:r>
              <a:t>• Multiple revenue verticals</a:t>
            </a:r>
          </a:p>
          <a:p>
            <a:pPr>
              <a:spcAft>
                <a:spcPts val="1200"/>
              </a:spcAft>
              <a:defRPr sz="2400"/>
            </a:pPr>
            <a:r>
              <a:t>• Global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Three massive markets. One technology.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Wellness &amp; Health — $4.5T global market</a:t>
            </a:r>
          </a:p>
          <a:p>
            <a:pPr>
              <a:spcAft>
                <a:spcPts val="1200"/>
              </a:spcAft>
              <a:defRPr sz="2400"/>
            </a:pPr>
            <a:r>
              <a:t>• Agriculture — $3T global market</a:t>
            </a:r>
          </a:p>
          <a:p>
            <a:pPr>
              <a:spcAft>
                <a:spcPts val="1200"/>
              </a:spcAft>
              <a:defRPr sz="2400"/>
            </a:pPr>
            <a:r>
              <a:t>• Consumer Products — $2T+ relevant segments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VALIDATION 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Dr. Rustum Roy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Penn State Materials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"In Mahendra Trivedi I have found one feature in which he has surpassed any of the other such gifted individuals."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Research Foundation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Number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Peer-reviewed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657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Controlled experiments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4,000+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Materials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300+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Years of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20+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Clinical Evidence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Klotho (longevity)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+685%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TNF-α (inflammation)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-95%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Oxytocin (wellbeing)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+400%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Agricultural Proof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Increase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Cashews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+334%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Chickpea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+365%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Mustard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BUSINESS MODEL 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1. Blessing Programs — Direct B2C wellness</a:t>
            </a:r>
          </a:p>
          <a:p>
            <a:pPr>
              <a:spcAft>
                <a:spcPts val="1200"/>
              </a:spcAft>
              <a:defRPr sz="2400"/>
            </a:pPr>
            <a:r>
              <a:t>• 2. Treated Products — B2B ingredient enhancement</a:t>
            </a:r>
          </a:p>
          <a:p>
            <a:pPr>
              <a:spcAft>
                <a:spcPts val="1200"/>
              </a:spcAft>
              <a:defRPr sz="2400"/>
            </a:pPr>
            <a:r>
              <a:t>• 3. Agricultural Services — Farm transformation</a:t>
            </a:r>
          </a:p>
          <a:p>
            <a:pPr>
              <a:spcAft>
                <a:spcPts val="1200"/>
              </a:spcAft>
              <a:defRPr sz="2400"/>
            </a:pPr>
            <a:r>
              <a:t>• 4. Licensing — Technology partnerships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Stream 1: Blessing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Direct-to-Consumer Wellness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Remote delivery = global reach</a:t>
            </a:r>
          </a:p>
          <a:p>
            <a:pPr>
              <a:spcAft>
                <a:spcPts val="1200"/>
              </a:spcAft>
              <a:defRPr sz="2400"/>
            </a:pPr>
            <a:r>
              <a:t>• No physical infrastructure needed</a:t>
            </a:r>
          </a:p>
          <a:p>
            <a:pPr>
              <a:spcAft>
                <a:spcPts val="1200"/>
              </a:spcAft>
              <a:defRPr sz="2400"/>
            </a:pPr>
            <a:r>
              <a:t>• Subscription potential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Stream 2: Treated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B2B Product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Enhanced bioavailability</a:t>
            </a:r>
          </a:p>
          <a:p>
            <a:pPr>
              <a:spcAft>
                <a:spcPts val="1200"/>
              </a:spcAft>
              <a:defRPr sz="2400"/>
            </a:pPr>
            <a:r>
              <a:t>• Improved stability</a:t>
            </a:r>
          </a:p>
          <a:p>
            <a:pPr>
              <a:spcAft>
                <a:spcPts val="1200"/>
              </a:spcAft>
              <a:defRPr sz="2400"/>
            </a:pPr>
            <a:r>
              <a:t>• Better efficacy</a:t>
            </a:r>
          </a:p>
          <a:p>
            <a:pPr>
              <a:spcAft>
                <a:spcPts val="1200"/>
              </a:spcAft>
              <a:defRPr sz="2400"/>
            </a:pPr>
            <a:r>
              <a:t>• Longer shelf life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Stream 3: Agriculture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Farm Transformation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Per-acre fee model</a:t>
            </a:r>
          </a:p>
          <a:p>
            <a:pPr>
              <a:spcAft>
                <a:spcPts val="1200"/>
              </a:spcAft>
              <a:defRPr sz="2400"/>
            </a:pPr>
            <a:r>
              <a:t>• Eliminate chemical costs</a:t>
            </a:r>
          </a:p>
          <a:p>
            <a:pPr>
              <a:spcAft>
                <a:spcPts val="1200"/>
              </a:spcAft>
              <a:defRPr sz="2400"/>
            </a:pPr>
            <a:r>
              <a:t>• Increase yields 50-500%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MARKET SIZE 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Wellness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$4.5 Trillion</a:t>
            </a:r>
            <a:br/>
            <a:r>
              <a:t>Global Market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Mental Health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 billion people suffer globally</a:t>
            </a:r>
          </a:p>
          <a:p>
            <a:pPr>
              <a:spcAft>
                <a:spcPts val="1200"/>
              </a:spcAft>
              <a:defRPr sz="2400"/>
            </a:pPr>
            <a:r>
              <a:t>• $1 trillion annual economic cost</a:t>
            </a:r>
          </a:p>
          <a:p>
            <a:pPr>
              <a:spcAft>
                <a:spcPts val="1200"/>
              </a:spcAft>
              <a:defRPr sz="2400"/>
            </a:pPr>
            <a:r>
              <a:t>• Huge demand for alternatives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COMPETITIVE POSITION 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Competitive Advantage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Trivedi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Competitors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Peer-reviewed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657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Few/none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Clinical trials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Rare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Remote/unlimited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Physical/limited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Barriers to 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20 years of research</a:t>
            </a:r>
          </a:p>
          <a:p>
            <a:pPr>
              <a:spcAft>
                <a:spcPts val="1200"/>
              </a:spcAft>
              <a:defRPr sz="2400"/>
            </a:pPr>
            <a:r>
              <a:t>• 657 publications</a:t>
            </a:r>
          </a:p>
          <a:p>
            <a:pPr>
              <a:spcAft>
                <a:spcPts val="1200"/>
              </a:spcAft>
              <a:defRPr sz="2400"/>
            </a:pPr>
            <a:r>
              <a:t>• Dr. Rustum Roy endorsement</a:t>
            </a:r>
          </a:p>
          <a:p>
            <a:pPr>
              <a:spcAft>
                <a:spcPts val="1200"/>
              </a:spcAft>
              <a:defRPr sz="2400"/>
            </a:pPr>
            <a:r>
              <a:t>• Established programs</a:t>
            </a:r>
          </a:p>
          <a:p>
            <a:pPr>
              <a:spcAft>
                <a:spcPts val="1200"/>
              </a:spcAft>
              <a:defRPr sz="2400"/>
            </a:pPr>
            <a:r>
              <a:t>• First-mover advantage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GROWTH STRATEGY 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Phase 1: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Focus: Core programs + initial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Build recurring client base</a:t>
            </a:r>
          </a:p>
          <a:p>
            <a:pPr>
              <a:spcAft>
                <a:spcPts val="1200"/>
              </a:spcAft>
              <a:defRPr sz="2400"/>
            </a:pPr>
            <a:r>
              <a:t>• Expand product partnerships</a:t>
            </a:r>
          </a:p>
          <a:p>
            <a:pPr>
              <a:spcAft>
                <a:spcPts val="1200"/>
              </a:spcAft>
              <a:defRPr sz="2400"/>
            </a:pPr>
            <a:r>
              <a:t>• Agriculture pilots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Phase 2: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Focus: Global expansion +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International blessing delivery</a:t>
            </a:r>
          </a:p>
          <a:p>
            <a:pPr>
              <a:spcAft>
                <a:spcPts val="1200"/>
              </a:spcAft>
              <a:defRPr sz="2400"/>
            </a:pPr>
            <a:r>
              <a:t>• Major product partnerships</a:t>
            </a:r>
          </a:p>
          <a:p>
            <a:pPr>
              <a:spcAft>
                <a:spcPts val="1200"/>
              </a:spcAft>
              <a:defRPr sz="2400"/>
            </a:pPr>
            <a:r>
              <a:t>• Agricultural contracts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Comparable: Patanjali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Started with blessed/Ayurvedic products</a:t>
            </a:r>
          </a:p>
          <a:p>
            <a:pPr>
              <a:spcAft>
                <a:spcPts val="1200"/>
              </a:spcAft>
              <a:defRPr sz="2400"/>
            </a:pPr>
            <a:r>
              <a:t>• Built on spiritual credibility + efficacy</a:t>
            </a:r>
          </a:p>
          <a:p>
            <a:pPr>
              <a:spcAft>
                <a:spcPts val="1200"/>
              </a:spcAft>
              <a:defRPr sz="2400"/>
            </a:pPr>
            <a:r>
              <a:t>• Now $2B+ annual revenue</a:t>
            </a:r>
          </a:p>
          <a:p>
            <a:pPr>
              <a:spcAft>
                <a:spcPts val="1200"/>
              </a:spcAft>
              <a:defRPr sz="2400"/>
            </a:pPr>
            <a:r>
              <a:t>• Trivedi: similar playbook, superior validation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THE ASK 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Partnership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We're seeking: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Strategic investors</a:t>
            </a:r>
          </a:p>
          <a:p>
            <a:pPr>
              <a:spcAft>
                <a:spcPts val="1200"/>
              </a:spcAft>
              <a:defRPr sz="2400"/>
            </a:pPr>
            <a:r>
              <a:t>• Product company partners</a:t>
            </a:r>
          </a:p>
          <a:p>
            <a:pPr>
              <a:spcAft>
                <a:spcPts val="1200"/>
              </a:spcAft>
              <a:defRPr sz="2400"/>
            </a:pPr>
            <a:r>
              <a:t>• Agricultural partners</a:t>
            </a:r>
          </a:p>
          <a:p>
            <a:pPr>
              <a:spcAft>
                <a:spcPts val="1200"/>
              </a:spcAft>
              <a:defRPr sz="2400"/>
            </a:pPr>
            <a:r>
              <a:t>• Distribution partners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1. Confidential business plan review</a:t>
            </a:r>
          </a:p>
          <a:p>
            <a:pPr>
              <a:spcAft>
                <a:spcPts val="1200"/>
              </a:spcAft>
              <a:defRPr sz="2400"/>
            </a:pPr>
            <a:r>
              <a:t>• 2. Site visit / demonstration</a:t>
            </a:r>
          </a:p>
          <a:p>
            <a:pPr>
              <a:spcAft>
                <a:spcPts val="1200"/>
              </a:spcAft>
              <a:defRPr sz="2400"/>
            </a:pPr>
            <a:r>
              <a:t>• 3. Pilot program discussion</a:t>
            </a:r>
          </a:p>
          <a:p>
            <a:pPr>
              <a:spcAft>
                <a:spcPts val="1200"/>
              </a:spcAft>
              <a:defRPr sz="2400"/>
            </a:pPr>
            <a:r>
              <a:t>• 4. Term sheet negotiation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The science is proven.</a:t>
            </a:r>
            <a:br/>
            <a:r>
              <a:t>The market is ready.</a:t>
            </a:r>
            <a:br/>
            <a:r>
              <a:t>The opportunity is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